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0" y="-1828800"/>
            <a:ext cx="5486400" cy="5486400"/>
          </a:xfrm>
          <a:prstGeom prst="ellipse">
            <a:avLst/>
          </a:prstGeom>
          <a:solidFill>
            <a:srgbClr val="D1A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600">
                <a:solidFill>
                  <a:srgbClr val="FFFFFF"/>
                </a:solidFill>
                <a:latin typeface="Arial Black"/>
              </a:defRPr>
            </a:pPr>
            <a:r>
              <a:t>FATIC</a:t>
            </a:r>
          </a:p>
          <a:p>
            <a:pPr>
              <a:spcBef>
                <a:spcPts val="1000"/>
              </a:spcBef>
              <a:defRPr sz="2400" b="1">
                <a:solidFill>
                  <a:srgbClr val="D1A662"/>
                </a:solidFill>
                <a:latin typeface="Arial"/>
              </a:defRPr>
            </a:pPr>
            <a:r>
              <a:t>KIẾN TẠO GIÁ TRỊ BỀN VỮNG</a:t>
            </a:r>
          </a:p>
          <a:p>
            <a:pPr>
              <a:spcBef>
                <a:spcPts val="2000"/>
              </a:spcBef>
              <a:defRPr sz="1800">
                <a:solidFill>
                  <a:srgbClr val="E6E6E6"/>
                </a:solidFill>
                <a:latin typeface="Arial"/>
              </a:defRPr>
            </a:pPr>
            <a:r>
              <a:t>Giải Pháp Quản Lý Vận Hành &amp; Bảo Trì Kỹ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D1A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rial"/>
              </a:defRPr>
            </a:pPr>
            <a:r>
              <a:t>Giới Thiệu Chung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FATIC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defRPr sz="1800" b="1">
                <a:solidFill>
                  <a:srgbClr val="0F2C59"/>
                </a:solidFill>
              </a:defRPr>
            </a:pPr>
            <a:r>
              <a:rPr dirty="0" err="1"/>
              <a:t>Lịch</a:t>
            </a:r>
            <a:r>
              <a:rPr dirty="0"/>
              <a:t> </a:t>
            </a:r>
            <a:r>
              <a:rPr dirty="0" err="1"/>
              <a:t>Sử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Thành </a:t>
            </a:r>
            <a:r>
              <a:rPr dirty="0" err="1"/>
              <a:t>lập</a:t>
            </a:r>
            <a:r>
              <a:rPr dirty="0"/>
              <a:t> 2016 - </a:t>
            </a:r>
            <a:r>
              <a:rPr dirty="0" err="1"/>
              <a:t>Hơn</a:t>
            </a:r>
            <a:r>
              <a:rPr dirty="0"/>
              <a:t> 10 </a:t>
            </a:r>
            <a:r>
              <a:rPr dirty="0" err="1"/>
              <a:t>năm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.</a:t>
            </a:r>
          </a:p>
          <a:p>
            <a:pPr>
              <a:spcBef>
                <a:spcPts val="1200"/>
              </a:spcBef>
              <a:defRPr sz="1800" b="1">
                <a:solidFill>
                  <a:srgbClr val="0F2C59"/>
                </a:solidFill>
              </a:defRPr>
            </a:pPr>
            <a:r>
              <a:rPr dirty="0" err="1"/>
              <a:t>Vị</a:t>
            </a:r>
            <a:r>
              <a:rPr dirty="0"/>
              <a:t> </a:t>
            </a:r>
            <a:r>
              <a:rPr dirty="0" err="1"/>
              <a:t>Thế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vị</a:t>
            </a:r>
            <a:r>
              <a:rPr dirty="0"/>
              <a:t> Top 10 </a:t>
            </a:r>
            <a:r>
              <a:rPr dirty="0" err="1"/>
              <a:t>về</a:t>
            </a:r>
            <a:r>
              <a:rPr dirty="0"/>
              <a:t> Quản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Vận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&amp; Bảo </a:t>
            </a:r>
            <a:r>
              <a:rPr dirty="0" err="1"/>
              <a:t>trì</a:t>
            </a:r>
            <a:r>
              <a:rPr dirty="0"/>
              <a:t>.</a:t>
            </a:r>
          </a:p>
          <a:p>
            <a:pPr>
              <a:spcBef>
                <a:spcPts val="1200"/>
              </a:spcBef>
              <a:defRPr sz="1800" b="1">
                <a:solidFill>
                  <a:srgbClr val="0F2C59"/>
                </a:solidFill>
              </a:defRPr>
            </a:pPr>
            <a:r>
              <a:rPr dirty="0"/>
              <a:t>Quy </a:t>
            </a:r>
            <a:r>
              <a:rPr dirty="0" err="1"/>
              <a:t>Mô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500+ </a:t>
            </a:r>
            <a:r>
              <a:rPr dirty="0" err="1"/>
              <a:t>Nhân</a:t>
            </a:r>
            <a:r>
              <a:rPr dirty="0"/>
              <a:t> </a:t>
            </a:r>
            <a:r>
              <a:rPr dirty="0" err="1"/>
              <a:t>sự</a:t>
            </a:r>
            <a:r>
              <a:rPr dirty="0"/>
              <a:t> </a:t>
            </a:r>
            <a:r>
              <a:rPr dirty="0" err="1"/>
              <a:t>chuyên</a:t>
            </a:r>
            <a:r>
              <a:rPr dirty="0"/>
              <a:t> </a:t>
            </a:r>
            <a:r>
              <a:rPr dirty="0" err="1"/>
              <a:t>gia</a:t>
            </a:r>
            <a:r>
              <a:rPr dirty="0"/>
              <a:t> &amp; </a:t>
            </a:r>
            <a:r>
              <a:rPr dirty="0" err="1"/>
              <a:t>Kỹ</a:t>
            </a:r>
            <a:r>
              <a:rPr dirty="0"/>
              <a:t>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endParaRPr lang="en-IN" dirty="0"/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rPr dirty="0" err="1"/>
              <a:t>cao</a:t>
            </a:r>
            <a:r>
              <a:rPr dirty="0"/>
              <a:t> </a:t>
            </a:r>
            <a:r>
              <a:rPr dirty="0" err="1"/>
              <a:t>cấp</a:t>
            </a:r>
            <a:r>
              <a:rPr dirty="0"/>
              <a:t>.</a:t>
            </a:r>
          </a:p>
          <a:p>
            <a:pPr>
              <a:spcBef>
                <a:spcPts val="1200"/>
              </a:spcBef>
              <a:defRPr sz="1800" b="1">
                <a:solidFill>
                  <a:srgbClr val="0F2C59"/>
                </a:solidFill>
              </a:defRPr>
            </a:pPr>
            <a:r>
              <a:rPr dirty="0"/>
              <a:t>Cam </a:t>
            </a:r>
            <a:r>
              <a:rPr dirty="0" err="1"/>
              <a:t>Kết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Chuyên </a:t>
            </a:r>
            <a:r>
              <a:rPr dirty="0" err="1"/>
              <a:t>nghiệp</a:t>
            </a:r>
            <a:r>
              <a:rPr dirty="0"/>
              <a:t> - Minh </a:t>
            </a:r>
            <a:r>
              <a:rPr dirty="0" err="1"/>
              <a:t>bạch</a:t>
            </a:r>
            <a:r>
              <a:rPr dirty="0"/>
              <a:t> - Hiệu </a:t>
            </a:r>
            <a:r>
              <a:rPr dirty="0" err="1"/>
              <a:t>quả</a:t>
            </a:r>
            <a:r>
              <a:rPr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1892300"/>
            <a:ext cx="5120640" cy="3200400"/>
          </a:xfrm>
          <a:prstGeom prst="rect">
            <a:avLst/>
          </a:prstGeom>
          <a:solidFill>
            <a:srgbClr val="D1A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153329"/>
            <a:ext cx="5120640" cy="25656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D1A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rial"/>
              </a:defRPr>
            </a:pPr>
            <a:r>
              <a:t>Tầm Nhìn &amp; Sứ Mệnh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FATIC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70244" cy="12670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D1A662"/>
                </a:solidFill>
              </a:defRPr>
            </a:pPr>
            <a:r>
              <a:rPr dirty="0"/>
              <a:t>TẦM NHÌN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rPr dirty="0" err="1"/>
              <a:t>Trở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biểu</a:t>
            </a:r>
            <a:r>
              <a:rPr dirty="0"/>
              <a:t> </a:t>
            </a:r>
            <a:r>
              <a:rPr dirty="0" err="1"/>
              <a:t>tượng</a:t>
            </a:r>
            <a:r>
              <a:rPr dirty="0"/>
              <a:t> </a:t>
            </a:r>
            <a:r>
              <a:rPr dirty="0" err="1"/>
              <a:t>uy</a:t>
            </a:r>
            <a:r>
              <a:rPr dirty="0"/>
              <a:t> </a:t>
            </a:r>
            <a:r>
              <a:rPr dirty="0" err="1"/>
              <a:t>tín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đầu</a:t>
            </a:r>
            <a:r>
              <a:rPr dirty="0"/>
              <a:t> Việt Nam </a:t>
            </a:r>
            <a:endParaRPr lang="en-IN" dirty="0"/>
          </a:p>
          <a:p>
            <a:pPr>
              <a:defRPr sz="1600">
                <a:solidFill>
                  <a:srgbClr val="323232"/>
                </a:solidFill>
              </a:defRPr>
            </a:pP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lĩnh</a:t>
            </a:r>
            <a:r>
              <a:rPr dirty="0"/>
              <a:t> </a:t>
            </a:r>
            <a:r>
              <a:rPr dirty="0" err="1"/>
              <a:t>vực</a:t>
            </a:r>
            <a:r>
              <a:rPr dirty="0"/>
              <a:t> </a:t>
            </a:r>
            <a:r>
              <a:rPr dirty="0" err="1"/>
              <a:t>cung</a:t>
            </a:r>
            <a:r>
              <a:rPr dirty="0"/>
              <a:t> </a:t>
            </a:r>
            <a:r>
              <a:rPr dirty="0" err="1"/>
              <a:t>cấp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pháp</a:t>
            </a:r>
            <a:r>
              <a:rPr dirty="0"/>
              <a:t>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endParaRPr lang="en-IN" dirty="0"/>
          </a:p>
          <a:p>
            <a:pPr>
              <a:defRPr sz="1600">
                <a:solidFill>
                  <a:srgbClr val="323232"/>
                </a:solidFill>
              </a:defRPr>
            </a:pPr>
            <a:r>
              <a:rPr dirty="0" err="1"/>
              <a:t>Bất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931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D1A662"/>
                </a:solidFill>
              </a:defRPr>
            </a:pPr>
            <a:r>
              <a:t>SỨ MỆNH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• Dịch vụ chuẩn mực quốc tế.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• Tối ưu chi phí vận hành cho CĐT.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• Kiến tạo cộng đồng văn minh.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0"/>
              </a:spcAft>
              <a:defRPr sz="2000" b="1">
                <a:solidFill>
                  <a:srgbClr val="0F2C59"/>
                </a:solidFill>
              </a:defRPr>
            </a:pPr>
            <a:r>
              <a:t>GIÁ TRỊ CỐT LÕI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828800" cy="731520"/>
          </a:xfrm>
          <a:prstGeom prst="roundRect">
            <a:avLst/>
          </a:prstGeom>
          <a:solidFill>
            <a:srgbClr val="F0F0F0"/>
          </a:solidFill>
          <a:ln>
            <a:solidFill>
              <a:srgbClr val="D1A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2C59"/>
                </a:solidFill>
              </a:defRPr>
            </a:pPr>
            <a:r>
              <a:t>CHUYÊN NGHIỆP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5029200"/>
            <a:ext cx="1828800" cy="731520"/>
          </a:xfrm>
          <a:prstGeom prst="roundRect">
            <a:avLst/>
          </a:prstGeom>
          <a:solidFill>
            <a:srgbClr val="F0F0F0"/>
          </a:solidFill>
          <a:ln>
            <a:solidFill>
              <a:srgbClr val="D1A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2C59"/>
                </a:solidFill>
              </a:defRPr>
            </a:pPr>
            <a:r>
              <a:t>TRÁCH NHIỆM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5029200"/>
            <a:ext cx="1828800" cy="731520"/>
          </a:xfrm>
          <a:prstGeom prst="roundRect">
            <a:avLst/>
          </a:prstGeom>
          <a:solidFill>
            <a:srgbClr val="F0F0F0"/>
          </a:solidFill>
          <a:ln>
            <a:solidFill>
              <a:srgbClr val="D1A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2C59"/>
                </a:solidFill>
              </a:defRPr>
            </a:pPr>
            <a:r>
              <a:t>TẬN TÂM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59" y="5029200"/>
            <a:ext cx="1828800" cy="731520"/>
          </a:xfrm>
          <a:prstGeom prst="roundRect">
            <a:avLst/>
          </a:prstGeom>
          <a:solidFill>
            <a:srgbClr val="F0F0F0"/>
          </a:solidFill>
          <a:ln>
            <a:solidFill>
              <a:srgbClr val="D1A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2C59"/>
                </a:solidFill>
              </a:defRPr>
            </a:pPr>
            <a:r>
              <a:t>HIỆU QUẢ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D1A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rial"/>
              </a:defRPr>
            </a:pPr>
            <a:r>
              <a:t>Dịch Vụ Cốt Lõi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FATIC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200"/>
              </a:spcAft>
              <a:defRPr sz="1600" b="1">
                <a:solidFill>
                  <a:srgbClr val="0F2C59"/>
                </a:solidFill>
              </a:defRPr>
            </a:pPr>
            <a:r>
              <a:t>➤ Quản Lý Tòa Nhà</a:t>
            </a:r>
          </a:p>
          <a:p>
            <a:pPr>
              <a:spcAft>
                <a:spcPts val="1200"/>
              </a:spcAft>
              <a:defRPr sz="1300">
                <a:solidFill>
                  <a:srgbClr val="323232"/>
                </a:solidFill>
              </a:defRPr>
            </a:pPr>
            <a:r>
              <a:t>Vận hành chung cư, văn phòng, TTTM theo chuẩn ISO.</a:t>
            </a:r>
          </a:p>
          <a:p>
            <a:pPr>
              <a:spcAft>
                <a:spcPts val="200"/>
              </a:spcAft>
              <a:defRPr sz="1600" b="1">
                <a:solidFill>
                  <a:srgbClr val="0F2C59"/>
                </a:solidFill>
              </a:defRPr>
            </a:pPr>
            <a:r>
              <a:t>➤ Bảo Trì Kỹ Thuật</a:t>
            </a:r>
          </a:p>
          <a:p>
            <a:pPr>
              <a:spcAft>
                <a:spcPts val="1200"/>
              </a:spcAft>
              <a:defRPr sz="1300">
                <a:solidFill>
                  <a:srgbClr val="323232"/>
                </a:solidFill>
              </a:defRPr>
            </a:pPr>
            <a:r>
              <a:t>Hệ thống M&amp;E, PCCC, HVAC, Thang máy.</a:t>
            </a:r>
          </a:p>
          <a:p>
            <a:pPr>
              <a:spcAft>
                <a:spcPts val="200"/>
              </a:spcAft>
              <a:defRPr sz="1600" b="1">
                <a:solidFill>
                  <a:srgbClr val="0F2C59"/>
                </a:solidFill>
              </a:defRPr>
            </a:pPr>
            <a:r>
              <a:t>➤ Tư Vấn Giải Pháp</a:t>
            </a:r>
          </a:p>
          <a:p>
            <a:pPr>
              <a:spcAft>
                <a:spcPts val="1200"/>
              </a:spcAft>
              <a:defRPr sz="1300">
                <a:solidFill>
                  <a:srgbClr val="323232"/>
                </a:solidFill>
              </a:defRPr>
            </a:pPr>
            <a:r>
              <a:t>Setup quy trình, hoạch định tài chính tối ưu.</a:t>
            </a:r>
          </a:p>
          <a:p>
            <a:pPr>
              <a:spcAft>
                <a:spcPts val="200"/>
              </a:spcAft>
              <a:defRPr sz="1600" b="1">
                <a:solidFill>
                  <a:srgbClr val="0F2C59"/>
                </a:solidFill>
              </a:defRPr>
            </a:pPr>
            <a:r>
              <a:t>➤ Cung Ứng Nhân Sự</a:t>
            </a:r>
          </a:p>
          <a:p>
            <a:pPr>
              <a:spcAft>
                <a:spcPts val="1200"/>
              </a:spcAft>
              <a:defRPr sz="1300">
                <a:solidFill>
                  <a:srgbClr val="323232"/>
                </a:solidFill>
              </a:defRPr>
            </a:pPr>
            <a:r>
              <a:t>Bảo vệ, Vệ sinh, Kỹ thuật viên lành nghề.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18380" y="1892300"/>
            <a:ext cx="5120640" cy="3200400"/>
          </a:xfrm>
          <a:prstGeom prst="rect">
            <a:avLst/>
          </a:prstGeom>
          <a:solidFill>
            <a:srgbClr val="D1A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644781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D1A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rial"/>
              </a:defRPr>
            </a:pPr>
            <a:r>
              <a:t>Dự Án &amp; Đối Tác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FATIC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1600" b="1">
                <a:solidFill>
                  <a:srgbClr val="0F2C59"/>
                </a:solidFill>
              </a:defRPr>
            </a:pPr>
            <a:r>
              <a:t>Đối Tác Chiến Lược: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VinHomes, NovaLand, Sun Group, Bitexco, Ecopark.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600" b="1">
                <a:solidFill>
                  <a:srgbClr val="0F2C59"/>
                </a:solidFill>
              </a:defRPr>
            </a:pPr>
            <a:r>
              <a:t>Lĩnh Vực Triển Khai: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Khu đô thị &amp; Chung cư cao cấp.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Tòa nhà văn phòng hạng A.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Khu công nghiệp công nghệ cao.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18380" y="1892300"/>
            <a:ext cx="5120640" cy="3200400"/>
          </a:xfrm>
          <a:prstGeom prst="rect">
            <a:avLst/>
          </a:prstGeom>
          <a:solidFill>
            <a:srgbClr val="D1A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644781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D1A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rial"/>
              </a:defRPr>
            </a:pPr>
            <a:r>
              <a:t>Liên Hệ Hợp Tác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FATIC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4114800" cy="32004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/>
            <a:endParaRPr/>
          </a:p>
          <a:p>
            <a:pPr>
              <a:defRPr sz="1200" b="1">
                <a:solidFill>
                  <a:srgbClr val="0F2C59"/>
                </a:solidFill>
              </a:defRPr>
            </a:pPr>
            <a:r>
              <a:t>Trụ Sở Chính (Hà Nội)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</a:defRPr>
            </a:pPr>
            <a:r>
              <a:t>88 Láng Hạ, Đống Đa, Hà Nội</a:t>
            </a:r>
          </a:p>
          <a:p>
            <a:pPr>
              <a:defRPr sz="1200" b="1">
                <a:solidFill>
                  <a:srgbClr val="0F2C59"/>
                </a:solidFill>
              </a:defRPr>
            </a:pPr>
            <a:r>
              <a:t>Hotline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</a:defRPr>
            </a:pPr>
            <a:r>
              <a:t>(+84) 24 3999 8888</a:t>
            </a:r>
          </a:p>
          <a:p>
            <a:pPr>
              <a:defRPr sz="1200" b="1">
                <a:solidFill>
                  <a:srgbClr val="0F2C59"/>
                </a:solidFill>
              </a:defRPr>
            </a:pPr>
            <a:r>
              <a:t>Chi Nhánh TP.HCM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</a:defRPr>
            </a:pPr>
            <a:r>
              <a:t>Bitexco Tower, Quận 1</a:t>
            </a:r>
          </a:p>
          <a:p>
            <a:pPr>
              <a:defRPr sz="1200" b="1">
                <a:solidFill>
                  <a:srgbClr val="0F2C59"/>
                </a:solidFill>
              </a:defRPr>
            </a:pPr>
            <a:r>
              <a:t>Hotline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</a:defRPr>
            </a:pPr>
            <a:r>
              <a:t>(+84) 28 3999 9999</a:t>
            </a:r>
          </a:p>
          <a:p>
            <a:pPr>
              <a:defRPr sz="1200" b="1">
                <a:solidFill>
                  <a:srgbClr val="0F2C59"/>
                </a:solidFill>
              </a:defRPr>
            </a:pPr>
            <a:r>
              <a:t>Email / Website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</a:defRPr>
            </a:pPr>
            <a:r>
              <a:t>contact@fatic.com.vn</a:t>
            </a:r>
            <a:br/>
            <a:r>
              <a:t>www.fatic.com.vn</a:t>
            </a:r>
          </a:p>
        </p:txBody>
      </p:sp>
      <p:sp>
        <p:nvSpPr>
          <p:cNvPr id="7" name="Rectangle 6"/>
          <p:cNvSpPr/>
          <p:nvPr/>
        </p:nvSpPr>
        <p:spPr>
          <a:xfrm>
            <a:off x="4818380" y="1892300"/>
            <a:ext cx="5120640" cy="3200400"/>
          </a:xfrm>
          <a:prstGeom prst="rect">
            <a:avLst/>
          </a:prstGeom>
          <a:solidFill>
            <a:srgbClr val="D1A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6447815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348</Words>
  <Application>Microsoft Office PowerPoint</Application>
  <PresentationFormat>On-screen Show (4:3)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TRUONG PHAM</cp:lastModifiedBy>
  <cp:revision>3</cp:revision>
  <dcterms:created xsi:type="dcterms:W3CDTF">2013-01-27T09:14:16Z</dcterms:created>
  <dcterms:modified xsi:type="dcterms:W3CDTF">2026-01-19T15:58:34Z</dcterms:modified>
  <cp:category/>
</cp:coreProperties>
</file>